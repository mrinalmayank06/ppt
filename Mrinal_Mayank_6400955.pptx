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1474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75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Series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/>
              <a:t>MRINAL MAYANK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/>
              <a:t>SOGETI Data and Ai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/>
              <a:t>6400955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____23.02.2026__________________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____  / 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Broadcasting, Indexing &amp; Numerical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× 1 Mark = 5 Marks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61291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_A______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NumPy array shapes are broadcast-compatible?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4) and (5,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and (3,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1) and (1,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 = np.array([[1,2,3],[4,5,6],[7,8,9]]), what does arr[1:, ::2]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5, 6], [7, 8, 9]]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 6], [8, 9]]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___A____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NumPy function computes the dot product of two 1-D arrays?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np.multiply()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np.dot()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np.cross()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np.arange(2, 10,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8, 11]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6, 8]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6–12  ·  Data Loading, Filtering, Sorting &amp;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× 1 Mark = 7 Marks  +  3 Short Answer × 2 Marks = 6 Marks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Pandas method is used to read a CSV file into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pd.read_table()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pd.load_csv()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pd.import_csv()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 in pd.read_excel() specifies which sheet to load?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df with a column 'Age', which expression filters rows where Age &gt; 25?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df[df.Age &gt; 25]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df.filter(Age &gt; 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df.where('Age &gt; 25')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df.query['Age &gt; 25']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_A______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sorts a DataFrame by the 'Score' column in descending order?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df.sort('Score', desc=True)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df.order_by('Score', ascending=False)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df.sort_values('Score', ascending=False)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df.arrange('Score', reverse=True)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df.groupby('Dept')['Salary'].mean()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salary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grouped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of the 'Dept'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group then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____B___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combines two DataFrames horizontally (column-wise)?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df1.append(df2)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how='outer')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df.dropna() do 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columns with NaN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NaN values with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containing NaN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with the column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__C_____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– GROUPBY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split-apply-combine strategy used by groupby() in Pandas. Provide a real-world example showing how groupby() with an aggregation function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39550" y="2057400"/>
            <a:ext cx="7238689" cy="27432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sz="1200" b="1" dirty="0">
                <a:highlight>
                  <a:srgbClr val="C0C0C0"/>
                </a:highlight>
              </a:rPr>
              <a:t>Split–Apply–Combine Strategy in </a:t>
            </a:r>
            <a:r>
              <a:rPr lang="en-US" sz="1200" b="1" dirty="0" err="1">
                <a:highlight>
                  <a:srgbClr val="C0C0C0"/>
                </a:highlight>
              </a:rPr>
              <a:t>groupby</a:t>
            </a:r>
            <a:r>
              <a:rPr lang="en-US" sz="1200" b="1" dirty="0">
                <a:highlight>
                  <a:srgbClr val="C0C0C0"/>
                </a:highlight>
              </a:rPr>
              <a:t>() (Pandas)</a:t>
            </a:r>
          </a:p>
          <a:p>
            <a:r>
              <a:rPr lang="en-US" sz="1200" dirty="0">
                <a:highlight>
                  <a:srgbClr val="C0C0C0"/>
                </a:highlight>
              </a:rPr>
              <a:t>The </a:t>
            </a:r>
            <a:r>
              <a:rPr lang="en-US" sz="1200" b="1" dirty="0">
                <a:highlight>
                  <a:srgbClr val="C0C0C0"/>
                </a:highlight>
              </a:rPr>
              <a:t>split–apply–combine</a:t>
            </a:r>
            <a:r>
              <a:rPr lang="en-US" sz="1200" dirty="0">
                <a:highlight>
                  <a:srgbClr val="C0C0C0"/>
                </a:highlight>
              </a:rPr>
              <a:t> strategy is a data analysis paradigm used by the </a:t>
            </a:r>
          </a:p>
          <a:p>
            <a:r>
              <a:rPr lang="en-US" sz="1200" dirty="0" err="1">
                <a:highlight>
                  <a:srgbClr val="C0C0C0"/>
                </a:highlight>
              </a:rPr>
              <a:t>groupby</a:t>
            </a:r>
            <a:r>
              <a:rPr lang="en-US" sz="1200" dirty="0">
                <a:highlight>
                  <a:srgbClr val="C0C0C0"/>
                </a:highlight>
              </a:rPr>
              <a:t>() function in Pandas to efficiently process and summarize large datasets. It consists of three main steps: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1. Split</a:t>
            </a:r>
          </a:p>
          <a:p>
            <a:r>
              <a:rPr lang="en-US" sz="1200" dirty="0">
                <a:highlight>
                  <a:srgbClr val="C0C0C0"/>
                </a:highlight>
              </a:rPr>
              <a:t>The dataset is divided into smaller subsets based on the unique values of one or more grouping columns.</a:t>
            </a:r>
            <a:br>
              <a:rPr lang="en-US" sz="1200" dirty="0">
                <a:highlight>
                  <a:srgbClr val="C0C0C0"/>
                </a:highlight>
              </a:rPr>
            </a:br>
            <a:r>
              <a:rPr lang="en-US" sz="1200" dirty="0">
                <a:highlight>
                  <a:srgbClr val="C0C0C0"/>
                </a:highlight>
              </a:rPr>
              <a:t>Each subset contains rows that share the same value(s) in the specified key column(s).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2. Apply</a:t>
            </a:r>
          </a:p>
          <a:p>
            <a:r>
              <a:rPr lang="en-US" sz="1200" dirty="0">
                <a:highlight>
                  <a:srgbClr val="C0C0C0"/>
                </a:highlight>
              </a:rPr>
              <a:t>A function is applied independently to each subset.</a:t>
            </a:r>
            <a:br>
              <a:rPr lang="en-US" sz="1200" dirty="0">
                <a:highlight>
                  <a:srgbClr val="C0C0C0"/>
                </a:highlight>
              </a:rPr>
            </a:br>
            <a:r>
              <a:rPr lang="en-US" sz="1200" dirty="0">
                <a:highlight>
                  <a:srgbClr val="C0C0C0"/>
                </a:highlight>
              </a:rPr>
              <a:t>This function may be: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Aggregation</a:t>
            </a:r>
            <a:r>
              <a:rPr lang="en-US" sz="1200" dirty="0">
                <a:highlight>
                  <a:srgbClr val="C0C0C0"/>
                </a:highlight>
              </a:rPr>
              <a:t> (e.g., sum(), mean(), count(), min(), max())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Transformation</a:t>
            </a:r>
            <a:r>
              <a:rPr lang="en-US" sz="1200" dirty="0">
                <a:highlight>
                  <a:srgbClr val="C0C0C0"/>
                </a:highlight>
              </a:rPr>
              <a:t> (e.g., scaling values within each group)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Custom function</a:t>
            </a:r>
            <a:r>
              <a:rPr lang="en-US" sz="1200" dirty="0">
                <a:highlight>
                  <a:srgbClr val="C0C0C0"/>
                </a:highlight>
              </a:rPr>
              <a:t> (user-defined logic)</a:t>
            </a:r>
          </a:p>
          <a:p>
            <a:r>
              <a:rPr lang="en-US" sz="1200" b="1" dirty="0">
                <a:highlight>
                  <a:srgbClr val="C0C0C0"/>
                </a:highlight>
              </a:rPr>
              <a:t>3. Combine</a:t>
            </a:r>
          </a:p>
          <a:p>
            <a:r>
              <a:rPr lang="en-US" sz="1200" dirty="0">
                <a:highlight>
                  <a:srgbClr val="C0C0C0"/>
                </a:highlight>
              </a:rPr>
              <a:t>The results from each group are combined into a new structured output </a:t>
            </a:r>
          </a:p>
          <a:p>
            <a:r>
              <a:rPr lang="en-US" sz="1200" dirty="0">
                <a:highlight>
                  <a:srgbClr val="C0C0C0"/>
                </a:highlight>
              </a:rPr>
              <a:t>(typically a </a:t>
            </a:r>
            <a:r>
              <a:rPr lang="en-US" sz="1200" dirty="0" err="1">
                <a:highlight>
                  <a:srgbClr val="C0C0C0"/>
                </a:highlight>
              </a:rPr>
              <a:t>DataFrame</a:t>
            </a:r>
            <a:r>
              <a:rPr lang="en-US" sz="1200" dirty="0">
                <a:highlight>
                  <a:srgbClr val="C0C0C0"/>
                </a:highlight>
              </a:rPr>
              <a:t> or Series), providing a summarized view of the data.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– 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broadcasting in NumPy? State the broadcasting rules and give an example showing how arrays of shapes (3, 1) and (1, 4) would interact.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8D6D18-83B9-9347-B850-4C8C237279AD}"/>
              </a:ext>
            </a:extLst>
          </p:cNvPr>
          <p:cNvSpPr txBox="1"/>
          <p:nvPr/>
        </p:nvSpPr>
        <p:spPr>
          <a:xfrm>
            <a:off x="274319" y="2487168"/>
            <a:ext cx="866440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Broadcasting Rules in NumPy</a:t>
            </a:r>
          </a:p>
          <a:p>
            <a:pPr>
              <a:buNone/>
            </a:pPr>
            <a:r>
              <a:rPr lang="en-US" sz="1200" dirty="0">
                <a:highlight>
                  <a:srgbClr val="C0C0C0"/>
                </a:highlight>
              </a:rPr>
              <a:t>When two arrays are used in an operation, NumPy compares their shapes from the rightmost dimensions moving left. Broadcasting is possible if the following conditions are satisfied: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dimensions are equal, they are compatible.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one dimension is 1, it can be expanded to match the other.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arrays have different numbers of dimensions, the smaller array is padded with ones on the left.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highlight>
                  <a:srgbClr val="C0C0C0"/>
                </a:highlight>
              </a:rPr>
              <a:t>If dimensions differ and neither is 1, broadcasting is not allowed.</a:t>
            </a:r>
          </a:p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Example: Shapes (3, 1) and (1, 4)</a:t>
            </a:r>
          </a:p>
          <a:p>
            <a:pPr rtl="0">
              <a:buNone/>
            </a:pP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import </a:t>
            </a:r>
            <a:r>
              <a:rPr lang="en-US" sz="1200" dirty="0" err="1">
                <a:highlight>
                  <a:srgbClr val="C0C0C0"/>
                </a:highlight>
                <a:latin typeface="Courier New" panose="02070309020205020404" pitchFamily="49" charset="0"/>
              </a:rPr>
              <a:t>numpy</a:t>
            </a: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as np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A = </a:t>
            </a:r>
            <a:r>
              <a:rPr lang="en-US" sz="1200" dirty="0" err="1">
                <a:highlight>
                  <a:srgbClr val="C0C0C0"/>
                </a:highlight>
                <a:latin typeface="Courier New" panose="02070309020205020404" pitchFamily="49" charset="0"/>
              </a:rPr>
              <a:t>np.array</a:t>
            </a: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([[1],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             [2],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             [3]])      # Shape (3,1)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B = </a:t>
            </a:r>
            <a:r>
              <a:rPr lang="en-US" sz="1200" dirty="0" err="1">
                <a:highlight>
                  <a:srgbClr val="C0C0C0"/>
                </a:highlight>
                <a:latin typeface="Courier New" panose="02070309020205020404" pitchFamily="49" charset="0"/>
              </a:rPr>
              <a:t>np.array</a:t>
            </a: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([[10, 20, 30, 40]])  # Shape (1,4)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result = A + B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print(result)</a:t>
            </a:r>
          </a:p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Shape comparison:</a:t>
            </a:r>
            <a:endParaRPr lang="en-US" sz="1200" dirty="0">
              <a:highlight>
                <a:srgbClr val="C0C0C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C0C0C0"/>
                </a:highlight>
              </a:rPr>
              <a:t>A → (3,1)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C0C0C0"/>
                </a:highlight>
              </a:rPr>
              <a:t>B → (1,4)</a:t>
            </a:r>
          </a:p>
          <a:p>
            <a:pPr>
              <a:buNone/>
            </a:pPr>
            <a:r>
              <a:rPr lang="en-US" sz="1200" dirty="0">
                <a:highlight>
                  <a:srgbClr val="C0C0C0"/>
                </a:highlight>
              </a:rPr>
              <a:t>Since 1 can expand to match 3 and 4 respectively, both arrays broadcast to shape (3,4).</a:t>
            </a:r>
          </a:p>
          <a:p>
            <a:pPr>
              <a:buNone/>
            </a:pPr>
            <a:r>
              <a:rPr lang="en-US" sz="1200" b="1" dirty="0">
                <a:highlight>
                  <a:srgbClr val="C0C0C0"/>
                </a:highlight>
              </a:rPr>
              <a:t>Result:</a:t>
            </a:r>
            <a:endParaRPr lang="en-US" sz="1200" dirty="0">
              <a:highlight>
                <a:srgbClr val="C0C0C0"/>
              </a:highlight>
            </a:endParaRPr>
          </a:p>
          <a:p>
            <a:pPr rtl="0">
              <a:buNone/>
            </a:pP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[[11, 21, 31, 41],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[12, 22, 32, 42],</a:t>
            </a:r>
            <a:b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</a:br>
            <a:r>
              <a:rPr lang="en-US" sz="1200" dirty="0">
                <a:highlight>
                  <a:srgbClr val="C0C0C0"/>
                </a:highlight>
                <a:latin typeface="Courier New" panose="02070309020205020404" pitchFamily="49" charset="0"/>
              </a:rPr>
              <a:t> [13, 23, 33, 43]]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 TWO common data-wrangling tasks in Pandas. For each task, name the method used and write a one-line code example.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92898" y="2331720"/>
            <a:ext cx="7285342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highlight>
                  <a:srgbClr val="C0C0C0"/>
                </a:highlight>
              </a:rPr>
              <a:t>1. Handling Missing Values</a:t>
            </a:r>
          </a:p>
          <a:p>
            <a:r>
              <a:rPr lang="en-US" sz="1600" dirty="0">
                <a:highlight>
                  <a:srgbClr val="C0C0C0"/>
                </a:highlight>
              </a:rPr>
              <a:t>One common data-wrangling task is handling missing data to ensure</a:t>
            </a:r>
          </a:p>
          <a:p>
            <a:r>
              <a:rPr lang="en-US" sz="1600" dirty="0">
                <a:highlight>
                  <a:srgbClr val="C0C0C0"/>
                </a:highlight>
              </a:rPr>
              <a:t> accurate analysis and prevent errors during computation. The method used is </a:t>
            </a:r>
            <a:r>
              <a:rPr lang="en-US" sz="1600" dirty="0" err="1">
                <a:highlight>
                  <a:srgbClr val="C0C0C0"/>
                </a:highlight>
              </a:rPr>
              <a:t>dropna</a:t>
            </a:r>
            <a:r>
              <a:rPr lang="en-US" sz="1600" dirty="0">
                <a:highlight>
                  <a:srgbClr val="C0C0C0"/>
                </a:highlight>
              </a:rPr>
              <a:t>() </a:t>
            </a:r>
          </a:p>
          <a:p>
            <a:r>
              <a:rPr lang="en-US" sz="1600" dirty="0">
                <a:highlight>
                  <a:srgbClr val="C0C0C0"/>
                </a:highlight>
              </a:rPr>
              <a:t>to remove missing values or </a:t>
            </a:r>
            <a:r>
              <a:rPr lang="en-US" sz="1600" dirty="0" err="1">
                <a:highlight>
                  <a:srgbClr val="C0C0C0"/>
                </a:highlight>
              </a:rPr>
              <a:t>fillna</a:t>
            </a:r>
            <a:r>
              <a:rPr lang="en-US" sz="1600" dirty="0">
                <a:highlight>
                  <a:srgbClr val="C0C0C0"/>
                </a:highlight>
              </a:rPr>
              <a:t>() to replace them.</a:t>
            </a:r>
          </a:p>
          <a:p>
            <a:r>
              <a:rPr lang="en-US" sz="1600" b="1" dirty="0">
                <a:highlight>
                  <a:srgbClr val="C0C0C0"/>
                </a:highlight>
              </a:rPr>
              <a:t>One-line example:</a:t>
            </a:r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 err="1">
                <a:highlight>
                  <a:srgbClr val="C0C0C0"/>
                </a:highlight>
              </a:rPr>
              <a:t>df</a:t>
            </a:r>
            <a:r>
              <a:rPr lang="en-US" sz="1600" dirty="0">
                <a:highlight>
                  <a:srgbClr val="C0C0C0"/>
                </a:highlight>
              </a:rPr>
              <a:t> = </a:t>
            </a:r>
            <a:r>
              <a:rPr lang="en-US" sz="1600" dirty="0" err="1">
                <a:highlight>
                  <a:srgbClr val="C0C0C0"/>
                </a:highlight>
              </a:rPr>
              <a:t>df.fillna</a:t>
            </a:r>
            <a:r>
              <a:rPr lang="en-US" sz="1600" dirty="0">
                <a:highlight>
                  <a:srgbClr val="C0C0C0"/>
                </a:highlight>
              </a:rPr>
              <a:t>(0)</a:t>
            </a:r>
          </a:p>
          <a:p>
            <a:r>
              <a:rPr lang="en-US" sz="1600" b="1" dirty="0">
                <a:highlight>
                  <a:srgbClr val="C0C0C0"/>
                </a:highlight>
              </a:rPr>
              <a:t>2. Sorting Data</a:t>
            </a:r>
          </a:p>
          <a:p>
            <a:r>
              <a:rPr lang="en-US" sz="1600" dirty="0">
                <a:highlight>
                  <a:srgbClr val="C0C0C0"/>
                </a:highlight>
              </a:rPr>
              <a:t>Another common task is sorting data to organize it for better analysis and</a:t>
            </a:r>
          </a:p>
          <a:p>
            <a:r>
              <a:rPr lang="en-US" sz="1600" dirty="0">
                <a:highlight>
                  <a:srgbClr val="C0C0C0"/>
                </a:highlight>
              </a:rPr>
              <a:t> reporting. The method used is </a:t>
            </a:r>
            <a:r>
              <a:rPr lang="en-US" sz="1600" dirty="0" err="1">
                <a:highlight>
                  <a:srgbClr val="C0C0C0"/>
                </a:highlight>
              </a:rPr>
              <a:t>sort_values</a:t>
            </a:r>
            <a:r>
              <a:rPr lang="en-US" sz="1600" dirty="0">
                <a:highlight>
                  <a:srgbClr val="C0C0C0"/>
                </a:highlight>
              </a:rPr>
              <a:t>().</a:t>
            </a:r>
          </a:p>
          <a:p>
            <a:r>
              <a:rPr lang="en-US" sz="1600" b="1" dirty="0">
                <a:highlight>
                  <a:srgbClr val="C0C0C0"/>
                </a:highlight>
              </a:rPr>
              <a:t>One-line example:</a:t>
            </a:r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 err="1">
                <a:highlight>
                  <a:srgbClr val="C0C0C0"/>
                </a:highlight>
              </a:rPr>
              <a:t>df</a:t>
            </a:r>
            <a:r>
              <a:rPr lang="en-US" sz="1600" dirty="0">
                <a:highlight>
                  <a:srgbClr val="C0C0C0"/>
                </a:highlight>
              </a:rPr>
              <a:t> = </a:t>
            </a:r>
            <a:r>
              <a:rPr lang="en-US" sz="1600" dirty="0" err="1">
                <a:highlight>
                  <a:srgbClr val="C0C0C0"/>
                </a:highlight>
              </a:rPr>
              <a:t>df.sort_values</a:t>
            </a:r>
            <a:r>
              <a:rPr lang="en-US" sz="1600" dirty="0">
                <a:highlight>
                  <a:srgbClr val="C0C0C0"/>
                </a:highlight>
              </a:rPr>
              <a:t>(by="Sales", ascending=False)</a:t>
            </a:r>
          </a:p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all answers before submitting.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Q1–Q5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5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7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6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1510</Words>
  <Application>Microsoft Office PowerPoint</Application>
  <PresentationFormat>On-screen Show (16:9)</PresentationFormat>
  <Paragraphs>272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Quiz</dc:title>
  <dc:subject>PptxGenJS Presentation</dc:subject>
  <dc:creator>PptxGenJS</dc:creator>
  <cp:lastModifiedBy>Mrinal Mayank</cp:lastModifiedBy>
  <cp:revision>2</cp:revision>
  <dcterms:created xsi:type="dcterms:W3CDTF">2026-02-22T18:36:13Z</dcterms:created>
  <dcterms:modified xsi:type="dcterms:W3CDTF">2026-02-23T09:19:34Z</dcterms:modified>
</cp:coreProperties>
</file>